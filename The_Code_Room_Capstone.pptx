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09728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02336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48640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109728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56032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402336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548640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09728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256032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402336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548640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09728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256032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402336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548640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0" y="109728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0" y="256032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0" y="402336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548640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109728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0" y="256032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402336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30000" y="5486400"/>
            <a:ext cx="45720" cy="45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" y="1828800"/>
            <a:ext cx="9144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17830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111827"/>
                </a:solidFill>
              </a:rPr>
              <a:t>THE CODE 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2461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3A5F"/>
                </a:solidFill>
              </a:rPr>
              <a:t>방탈출 구조를 활용한 Python 개념 복습 게임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4114800"/>
            <a:ext cx="8686800" cy="0"/>
          </a:xfrm>
          <a:prstGeom prst="rect">
            <a:avLst/>
          </a:prstGeom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297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2026-1 캡스톤 프로젝트   |   김민혁 · 공원호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1  / 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47120" cy="0"/>
          </a:xfrm>
          <a:prstGeom prst="rect">
            <a:avLst/>
          </a:prstGeom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</a:rPr>
              <a:t>Python 수업은 많아졌지만,
기억에 잘 안 남는다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47120" cy="960120"/>
          </a:xfrm>
          <a:prstGeom prst="rect">
            <a:avLst/>
          </a:prstGeom>
          <a:solidFill>
            <a:srgbClr val="F0F6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214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</a:rPr>
              <a:t>디지털새싹 · 정보영재 프로그램 · SW·AI 캠프 · 학교 정보 수업에서 Python은 이제 입문 언어로 자리잡고 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3A5F"/>
                </a:solidFill>
              </a:rPr>
              <a:t>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3246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200400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246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3A5F"/>
                </a:solidFill>
              </a:rPr>
              <a:t>예제 코드 따라치기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3246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200400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3246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3A5F"/>
                </a:solidFill>
              </a:rPr>
              <a:t>문제 몇 개 풀이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246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200400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3246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3A5F"/>
                </a:solidFill>
              </a:rPr>
              <a:t>다음 개념으로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</a:rPr>
              <a:t>이 방식은 진도를 나가기에는 효율적이지만, 학생 입장에서 다음 문제가 생긴다.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348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 b="1">
                <a:solidFill>
                  <a:srgbClr val="2980B9"/>
                </a:solidFill>
              </a:rPr>
              <a:t>▸  </a:t>
            </a:r>
            <a:r>
              <a:rPr sz="1700" b="0">
                <a:solidFill>
                  <a:srgbClr val="374151"/>
                </a:solidFill>
              </a:rPr>
              <a:t>수업 중에는 따라오지만, 시간이 지나면 기억이 잘 안 남음</a:t>
            </a: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2980B9"/>
                </a:solidFill>
              </a:rPr>
              <a:t>▸  </a:t>
            </a:r>
            <a:r>
              <a:rPr sz="1700" b="0">
                <a:solidFill>
                  <a:srgbClr val="374151"/>
                </a:solidFill>
              </a:rPr>
              <a:t>문제를 풀 때 '왜 그렇게 푸는지'보다 '예제랑 비슷하게' 푸는 경우가 많음</a:t>
            </a: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2980B9"/>
                </a:solidFill>
              </a:rPr>
              <a:t>▸  </a:t>
            </a:r>
            <a:r>
              <a:rPr sz="1700" b="0">
                <a:solidFill>
                  <a:srgbClr val="374151"/>
                </a:solidFill>
              </a:rPr>
              <a:t>단순 반복 문제풀이가 이어지면 집중도가 떨어짐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한국과학창의재단 (디지털새싹).   교육부 (2022). 2022 개정 정보과 교육과정 — 컴퓨팅 사고력·실생활 문제 해결·재미있는 프로그래밍 강조.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2  / 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47120" cy="0"/>
          </a:xfrm>
          <a:prstGeom prst="rect">
            <a:avLst/>
          </a:prstGeom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</a:rPr>
              <a:t>그냥 푸는 Python 문제를,
탈출해야 하는 문제로 바꾸면?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47120" cy="868680"/>
          </a:xfrm>
          <a:prstGeom prst="rect">
            <a:avLst/>
          </a:prstGeom>
          <a:solidFill>
            <a:srgbClr val="F0F6FF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2140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1">
                <a:solidFill>
                  <a:srgbClr val="1E3A5F"/>
                </a:solidFill>
              </a:rPr>
              <a:t>"문제 1번을 푸세요"  →  "이 코드를 풀어야 다음 방으로 갈 수 있다"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90672"/>
            <a:ext cx="5394960" cy="384048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70448" y="3090672"/>
            <a:ext cx="5833872" cy="384048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906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방탈출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3090672"/>
            <a:ext cx="5833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Python 문제 해결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93008"/>
            <a:ext cx="5394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3493008"/>
            <a:ext cx="583387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3872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단서를 찾는다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3538727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문제 조건을 읽는다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394960" cy="420624"/>
          </a:xfrm>
          <a:prstGeom prst="rect">
            <a:avLst/>
          </a:prstGeom>
          <a:solidFill>
            <a:srgbClr val="F0F6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70448" y="3931920"/>
            <a:ext cx="5833872" cy="420624"/>
          </a:xfrm>
          <a:prstGeom prst="rect">
            <a:avLst/>
          </a:prstGeom>
          <a:solidFill>
            <a:srgbClr val="F0F6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규칙을 추론한다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397763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필요한 문법과 로직을 고른다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70831"/>
            <a:ext cx="5394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70448" y="4370831"/>
            <a:ext cx="583387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1655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자물쇠를 연다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8" y="4416551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코드를 실행해 정답을 확인한다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5272" y="4389119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80B9"/>
                </a:solidFill>
              </a:rPr>
              <a:t>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09744"/>
            <a:ext cx="5394960" cy="420624"/>
          </a:xfrm>
          <a:prstGeom prst="rect">
            <a:avLst/>
          </a:prstGeom>
          <a:solidFill>
            <a:srgbClr val="F0F6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70448" y="4809744"/>
            <a:ext cx="5833872" cy="420624"/>
          </a:xfrm>
          <a:prstGeom prst="rect">
            <a:avLst/>
          </a:prstGeom>
          <a:solidFill>
            <a:srgbClr val="F0F6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8554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실패하면 다시 시도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8" y="485546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오류를 보고 디버깅한다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48656"/>
            <a:ext cx="5394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70448" y="5248656"/>
            <a:ext cx="583387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2943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다음 방으로 이동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07608" y="529437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다음 개념으로 확장한다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3  / 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</a:rPr>
              <a:t>EDUCATIONAL BASIS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47120" cy="0"/>
          </a:xfrm>
          <a:prstGeom prst="rect">
            <a:avLst/>
          </a:prstGeom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</a:rPr>
              <a:t>학습자는 설명을 듣는 것보다,
직접 써볼 때 더 잘 배운다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</a:rPr>
              <a:t>The Code Room은 강의를 대체하려는 것이 아니라, 수업 이후 학생이 배운 개념을 직접 꺼내 쓰는 복습 활동으로 설계됐다.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5623560" cy="1920240"/>
          </a:xfrm>
          <a:prstGeom prst="rect">
            <a:avLst/>
          </a:prstGeom>
          <a:solidFill>
            <a:srgbClr val="F0F6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64008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1576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Active Learning (Freeman et al., PNAS 2014)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27832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STEM 분야 메타분석 — 능동학습이 전통 강의 대비
시험 성과를 유의미하게 향상, 실패율을 낮춤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606040"/>
            <a:ext cx="5623560" cy="1920240"/>
          </a:xfrm>
          <a:prstGeom prst="rect">
            <a:avLst/>
          </a:prstGeom>
          <a:solidFill>
            <a:srgbClr val="F0F6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606040"/>
            <a:ext cx="64008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71576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Escape Education (Veldkamp et al., 2020)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227832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교육용 방탈출 체계적 문헌 검토
핵심: 퍼즐 설계와 학습 목표의 정렬이 효과를 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09160"/>
            <a:ext cx="5623560" cy="1920240"/>
          </a:xfrm>
          <a:prstGeom prst="rect">
            <a:avLst/>
          </a:prstGeom>
          <a:solidFill>
            <a:srgbClr val="F0F6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709160"/>
            <a:ext cx="64008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1888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디지털 방탈출 (Sánchez, ScienceDirect 2023)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30952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디지털 방탈출이 학습 동기와 내용 복습에 긍정적
학생들이 학습 과정의 질이 향상됐다고 인식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709160"/>
            <a:ext cx="5623560" cy="1920240"/>
          </a:xfrm>
          <a:prstGeom prst="rect">
            <a:avLst/>
          </a:prstGeom>
          <a:solidFill>
            <a:srgbClr val="F0F6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709160"/>
            <a:ext cx="64008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81888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Escape Rooms for Programming (BERA, 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330952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프로그래밍 학습용 방탈출 체계적 문헌 검토
'코딩 + 방탈출'은 검증된 교육 연구 영역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4  / 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</a:rPr>
              <a:t>GAME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47120" cy="0"/>
          </a:xfrm>
          <a:prstGeom prst="rect">
            <a:avLst/>
          </a:prstGeom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</a:rPr>
              <a:t>핵심은 게임성이 아니라
학습 목표와 퍼즐의 연결이다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93392"/>
            <a:ext cx="1645920" cy="384048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21408" y="1993392"/>
            <a:ext cx="2926080" cy="384048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65776" y="1993392"/>
            <a:ext cx="6620256" cy="384048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19933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6" y="1993392"/>
            <a:ext cx="6620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활동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21408" y="2395728"/>
            <a:ext cx="29260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65776" y="2395728"/>
            <a:ext cx="6620256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50592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Room 0
잠긴 서재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245059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변수 · 연산
인덱싱 · 슬라이싱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450592"/>
            <a:ext cx="65288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기본 코드 해석, 값 계산, 문자열 자르기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1645920" cy="786384"/>
          </a:xfrm>
          <a:prstGeom prst="rect">
            <a:avLst/>
          </a:prstGeom>
          <a:solidFill>
            <a:srgbClr val="F0F6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21408" y="3200400"/>
            <a:ext cx="2926080" cy="786384"/>
          </a:xfrm>
          <a:prstGeom prst="rect">
            <a:avLst/>
          </a:prstGeom>
          <a:solidFill>
            <a:srgbClr val="F0F6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65776" y="3200400"/>
            <a:ext cx="6620256" cy="786384"/>
          </a:xfrm>
          <a:prstGeom prst="rect">
            <a:avLst/>
          </a:prstGeom>
          <a:solidFill>
            <a:srgbClr val="F0F6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55264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Room 1
신호실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7128" y="3255264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문자열 메서드
조건문 (if / else)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3255264"/>
            <a:ext cx="65288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단서에서 조건을 찾아 코드 작성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05072"/>
            <a:ext cx="1645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21408" y="4005072"/>
            <a:ext cx="29260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65776" y="4005072"/>
            <a:ext cx="6620256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59935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Room 2
기록실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7128" y="4059935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반복문 (for · while)
자료구조 (리스트·딕셔너리)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1496" y="4059935"/>
            <a:ext cx="65288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여러 데이터를 순회하며 정답 도출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09744"/>
            <a:ext cx="11228832" cy="475488"/>
          </a:xfrm>
          <a:prstGeom prst="rect">
            <a:avLst/>
          </a:prstGeom>
          <a:solidFill>
            <a:srgbClr val="FFF8F0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24000"/>
                </a:solidFill>
              </a:rPr>
              <a:t>★ 보너스 룸 (선택): 3개 방 클리어 후 진입 가능한 시크릿 방 — 역방향 슬라이싱 심화 문제 1개, 별도 스토리 엔딩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40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설계 원칙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788152"/>
            <a:ext cx="11247120" cy="0"/>
          </a:xfrm>
          <a:prstGeom prst="rect">
            <a:avLst/>
          </a:prstGeom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897880"/>
            <a:ext cx="45720" cy="2926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8521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문제를 풀어야만 다음 방으로 이동 — 강제적 능동 참여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897880"/>
            <a:ext cx="45720" cy="2926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58521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단서는 방 오브젝트처럼 제시 — 문제 조건을 자연스럽게 읽게 유도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309360"/>
            <a:ext cx="45720" cy="2926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2636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요구 문법 사용 여부를 AST로 검사 — 정답만이 아니라 과정도 검증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6309360"/>
            <a:ext cx="45720" cy="2926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62636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실패 시 감점 없음, 재시도 무제한 — 부담 없는 시행착오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5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</a:rPr>
              <a:t>STUDENT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47120" cy="0"/>
          </a:xfrm>
          <a:prstGeom prst="rect">
            <a:avLst/>
          </a:prstGeom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</a:rPr>
              <a:t>학생 경험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83080"/>
            <a:ext cx="1536192" cy="1645920"/>
          </a:xfrm>
          <a:prstGeom prst="rect">
            <a:avLst/>
          </a:prstGeom>
          <a:solidFill>
            <a:srgbClr val="F0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783080"/>
            <a:ext cx="153619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98424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방 입장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" y="2377440"/>
            <a:ext cx="14264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새로운 학습 단위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2536" y="1783080"/>
            <a:ext cx="1536192" cy="1645920"/>
          </a:xfrm>
          <a:prstGeom prst="rect">
            <a:avLst/>
          </a:prstGeom>
          <a:solidFill>
            <a:srgbClr val="F0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02536" y="1783080"/>
            <a:ext cx="153619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98424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단서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377440"/>
            <a:ext cx="14264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오브젝트 클릭으로
문제 조건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1783080"/>
            <a:ext cx="1536192" cy="1645920"/>
          </a:xfrm>
          <a:prstGeom prst="rect">
            <a:avLst/>
          </a:prstGeom>
          <a:solidFill>
            <a:srgbClr val="F0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85032" y="1783080"/>
            <a:ext cx="153619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9896" y="198424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코드 작성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2377440"/>
            <a:ext cx="14264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Python 에디터에
직접 코드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67528" y="1783080"/>
            <a:ext cx="1536192" cy="1645920"/>
          </a:xfrm>
          <a:prstGeom prst="rect">
            <a:avLst/>
          </a:prstGeom>
          <a:solidFill>
            <a:srgbClr val="F0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7528" y="1783080"/>
            <a:ext cx="153619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22392" y="198424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실행 ·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2377440"/>
            <a:ext cx="14264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즉각 피드백
(정답 / 오류 메시지)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6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0024" y="1783080"/>
            <a:ext cx="1536192" cy="1645920"/>
          </a:xfrm>
          <a:prstGeom prst="rect">
            <a:avLst/>
          </a:prstGeom>
          <a:solidFill>
            <a:srgbClr val="F0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50024" y="1783080"/>
            <a:ext cx="153619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4888" y="198424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오류 수정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2377440"/>
            <a:ext cx="14264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디버깅 후 재시도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1783080"/>
            <a:ext cx="1536192" cy="1645920"/>
          </a:xfrm>
          <a:prstGeom prst="rect">
            <a:avLst/>
          </a:prstGeom>
          <a:solidFill>
            <a:srgbClr val="F0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32520" y="1783080"/>
            <a:ext cx="153619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87384" y="198424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자물쇠 해제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7384" y="2377440"/>
            <a:ext cx="14264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6개 단서 코드 조합
→ 도어 키패드 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05288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15016" y="1783080"/>
            <a:ext cx="1536192" cy="1645920"/>
          </a:xfrm>
          <a:prstGeom prst="rect">
            <a:avLst/>
          </a:prstGeom>
          <a:solidFill>
            <a:srgbClr val="F0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15016" y="1783080"/>
            <a:ext cx="153619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69880" y="198424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</a:rPr>
              <a:t>다음 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2377440"/>
            <a:ext cx="14264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학습 진행에 대한
보상 + 새 개념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74903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주요 요소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096512"/>
            <a:ext cx="11247120" cy="0"/>
          </a:xfrm>
          <a:prstGeom prst="rect">
            <a:avLst/>
          </a:prstGeom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41605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19" y="416052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하나의 Python 개념 학습 단위 (Room 0–2, 총 3개)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41605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단서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16052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문제 조건을 방 오브젝트처럼 자연스럽게 제시하는 장치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47274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코드 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4519" y="4727448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CodeMirror 에디터 — 문법 강조·자동완성 지원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3368" y="47274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실행 결과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727448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Pyodide로 브라우저 내 Python 직접 실행, 즉각 피드백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529437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자물쇠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74519" y="5294376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6개 퍼즐을 모두 풀어야 열리는 도어 키패드 — 문제 해결의 목표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529437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다음 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294376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방 클리어 = 학습 단위 완료 → 새로운 개념 영역으로 이동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6  /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</a:rPr>
              <a:t>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47120" cy="0"/>
          </a:xfrm>
          <a:prstGeom prst="rect">
            <a:avLst/>
          </a:prstGeom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</a:rPr>
              <a:t>기대 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73352"/>
            <a:ext cx="64008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①  집중도 향상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02536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단순 문제풀이보다 '다음 방으로 이동'이라는 목표가 있어 몰입을 유도할 수 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78608"/>
            <a:ext cx="64008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054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②  기억 유지 보조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077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문법을 개념명으로만 기억하는 것이 아니라, 특정 탈출 상황과 연결해서 기억하게 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83864"/>
            <a:ext cx="64008" cy="658368"/>
          </a:xfrm>
          <a:prstGeom prst="rect">
            <a:avLst/>
          </a:prstGeom>
          <a:solidFill>
            <a:srgbClr val="0D6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107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③  능동적 문제 해결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81304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학생이 조건을 읽고, 필요한 문법을 선택하고, 코드를 직접 수정하는 경험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64008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3159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④  실패-재시도 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71830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틀려도 감점이 없고 재시도가 자연스러운 구조 — 시행착오를 통한 개념 내면화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94376"/>
            <a:ext cx="64008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2212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</a:rPr>
              <a:t>⑤  교사 활용성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6235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디지털새싹·정보영재·방과후·학교 정보 수업의 Python 복습 활동으로 사용 가능
(브라우저만 있으면 설치 불필요)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26480"/>
            <a:ext cx="11247120" cy="530352"/>
          </a:xfrm>
          <a:prstGeom prst="rect">
            <a:avLst/>
          </a:prstGeom>
          <a:solidFill>
            <a:srgbClr val="FFF8F0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1813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24000"/>
                </a:solidFill>
              </a:rPr>
              <a:t>⚠  The Code Room은 Python 실력을 단번에 올려주는 도구가 아니라, 이미 배운 개념을 더 능동적으로 다시 꺼내 쓰게 만드는 복습 환경입니다.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7  /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47120" cy="0"/>
          </a:xfrm>
          <a:prstGeom prst="rect">
            <a:avLst/>
          </a:prstGeom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</a:rPr>
              <a:t>코딩 개념을 써서 탈출하는 경험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19072"/>
            <a:ext cx="11247120" cy="13716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19072"/>
            <a:ext cx="109728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1">
                <a:solidFill>
                  <a:srgbClr val="1E3A5F"/>
                </a:solidFill>
              </a:rPr>
              <a:t>"Python 문제를 더 많이 푸는 것이 아니라,
Python 문제를 더 몰입해서 풀 수 있는 상황을 만든다."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1">
                <a:solidFill>
                  <a:srgbClr val="2980B9"/>
                </a:solidFill>
              </a:rPr>
              <a:t>▸  </a:t>
            </a:r>
            <a:r>
              <a:rPr sz="1800" b="1">
                <a:solidFill>
                  <a:srgbClr val="111827"/>
                </a:solidFill>
              </a:rPr>
              <a:t>The Code Room = 코딩을 외우는 활동이 아니라, 코딩 개념을 사용해 탈출하는 경험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2980B9"/>
                </a:solidFill>
              </a:rPr>
              <a:t>▸  </a:t>
            </a:r>
            <a:r>
              <a:rPr sz="1800" b="0">
                <a:solidFill>
                  <a:srgbClr val="374151"/>
                </a:solidFill>
              </a:rPr>
              <a:t>방탈출 구조는 프로그래밍 문제 해결의 사고 흐름(단서→추론→실행→재시도)과 자연스럽게 맞물림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2980B9"/>
                </a:solidFill>
              </a:rPr>
              <a:t>▸  </a:t>
            </a:r>
            <a:r>
              <a:rPr sz="1800" b="0">
                <a:solidFill>
                  <a:srgbClr val="374151"/>
                </a:solidFill>
              </a:rPr>
              <a:t>교육 연구 기반 설계: Active learning + 교육용 방탈출 + Serious game 원칙 반영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120640"/>
            <a:ext cx="11247120" cy="749808"/>
          </a:xfrm>
          <a:prstGeom prst="rect">
            <a:avLst/>
          </a:prstGeom>
          <a:solidFill>
            <a:srgbClr val="F0F6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93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E3A5F"/>
                </a:solidFill>
              </a:rPr>
              <a:t>"학생은 문제를 풀어야 다음 방으로 갈 수 있고, 그 과정에서 Python 개념은 자연스럽게 다시 사용된다."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016752"/>
            <a:ext cx="11247120" cy="0"/>
          </a:xfrm>
          <a:prstGeom prst="rect">
            <a:avLst/>
          </a:prstGeom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62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교육부 (2022). 2022 개정 교육과정 정보과.   Freeman et al. (2014). Active learning increases student performance. PNAS.   Veldkamp et al. (2020). Escape education: systematic review. ScienceDirect.   Sánchez (2023). Digital educational escape room. ScienceDirect.   Wouters et al. (2019). Serious games meta-analysis. TU/e.   Burak et al. (2024). Escape rooms for learning programming. BERA.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</a:rPr>
              <a:t>8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